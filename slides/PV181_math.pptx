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2" r:id="rId7"/>
    <p:sldId id="263" r:id="rId8"/>
  </p:sldIdLst>
  <p:sldSz cx="9144000" cy="6858000" type="screen4x3"/>
  <p:notesSz cx="6623050" cy="9810750"/>
  <p:embeddedFontLst>
    <p:embeddedFont>
      <p:font typeface="Cambria Math" panose="02040503050406030204" pitchFamily="18" charset="0"/>
      <p:regular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090">
          <p15:clr>
            <a:srgbClr val="A4A3A4"/>
          </p15:clr>
        </p15:guide>
        <p15:guide id="2" pos="2086">
          <p15:clr>
            <a:srgbClr val="A4A3A4"/>
          </p15:clr>
        </p15:guide>
      </p15:notesGuideLst>
    </p:ext>
    <p:ext uri="http://customooxmlschemas.google.com/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33" roundtripDataSignature="AMtx7mjq13BaMDeJUThSKISJs6Mbks3N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1460" y="2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3090"/>
        <p:guide pos="2086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33" Type="http://customschemas.google.com/relationships/presentationmetadata" Target="metadata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36" Type="http://schemas.openxmlformats.org/officeDocument/2006/relationships/theme" Target="theme/theme1.xml"/><Relationship Id="rId10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35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751263" y="0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860425" y="736600"/>
            <a:ext cx="4903788" cy="36782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61988" y="4659313"/>
            <a:ext cx="5299075" cy="441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9318625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751263" y="9318625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0425" y="736600"/>
            <a:ext cx="4903788" cy="36782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miter lim="800000"/>
            <a:headEnd type="none" w="sm" len="sm"/>
            <a:tailEnd type="none" w="sm" len="sm"/>
          </a:ln>
        </p:spPr>
      </p:sp>
      <p:sp>
        <p:nvSpPr>
          <p:cNvPr id="70" name="Google Shape;70;p1:notes"/>
          <p:cNvSpPr txBox="1">
            <a:spLocks noGrp="1"/>
          </p:cNvSpPr>
          <p:nvPr>
            <p:ph type="body" idx="1"/>
          </p:nvPr>
        </p:nvSpPr>
        <p:spPr>
          <a:xfrm>
            <a:off x="661988" y="4659313"/>
            <a:ext cx="5299075" cy="441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71" name="Google Shape;71;p1:notes"/>
          <p:cNvSpPr txBox="1">
            <a:spLocks noGrp="1"/>
          </p:cNvSpPr>
          <p:nvPr>
            <p:ph type="hdr" idx="3"/>
          </p:nvPr>
        </p:nvSpPr>
        <p:spPr>
          <a:xfrm>
            <a:off x="0" y="0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1:notes"/>
          <p:cNvSpPr txBox="1">
            <a:spLocks noGrp="1"/>
          </p:cNvSpPr>
          <p:nvPr>
            <p:ph type="ftr" idx="11"/>
          </p:nvPr>
        </p:nvSpPr>
        <p:spPr>
          <a:xfrm>
            <a:off x="0" y="9318625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b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1:notes"/>
          <p:cNvSpPr txBox="1">
            <a:spLocks noGrp="1"/>
          </p:cNvSpPr>
          <p:nvPr>
            <p:ph type="sldNum" idx="12"/>
          </p:nvPr>
        </p:nvSpPr>
        <p:spPr>
          <a:xfrm>
            <a:off x="3751263" y="9318625"/>
            <a:ext cx="2870200" cy="4905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:notes"/>
          <p:cNvSpPr txBox="1">
            <a:spLocks noGrp="1"/>
          </p:cNvSpPr>
          <p:nvPr>
            <p:ph type="body" idx="1"/>
          </p:nvPr>
        </p:nvSpPr>
        <p:spPr>
          <a:xfrm>
            <a:off x="661988" y="4659313"/>
            <a:ext cx="5299075" cy="44148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0525" tIns="45250" rIns="90525" bIns="4525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1" name="Google Shape;81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860425" y="736600"/>
            <a:ext cx="4903788" cy="36782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395147098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rázdný" type="blank">
  <p:cSld name="BLANK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7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7" name="Google Shape;17;p7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8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8"/>
          <p:cNvSpPr txBox="1">
            <a:spLocks noGrp="1"/>
          </p:cNvSpPr>
          <p:nvPr>
            <p:ph type="body" idx="1"/>
          </p:nvPr>
        </p:nvSpPr>
        <p:spPr>
          <a:xfrm>
            <a:off x="503238" y="1871663"/>
            <a:ext cx="822960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Char char="•"/>
              <a:defRPr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" name="Google Shape;21;p8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2" name="Google Shape;22;p8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obsah">
  <p:cSld name="Nadpis a obsah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9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9"/>
          <p:cNvSpPr txBox="1">
            <a:spLocks noGrp="1"/>
          </p:cNvSpPr>
          <p:nvPr>
            <p:ph type="body" idx="1"/>
          </p:nvPr>
        </p:nvSpPr>
        <p:spPr>
          <a:xfrm>
            <a:off x="503238" y="1871663"/>
            <a:ext cx="822960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Font typeface="Arial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9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7" name="Google Shape;27;p9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Záhlaví části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10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4000" b="1" cap="none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0"/>
          <p:cNvSpPr txBox="1">
            <a:spLocks noGrp="1"/>
          </p:cNvSpPr>
          <p:nvPr>
            <p:ph type="body" idx="1"/>
          </p:nvPr>
        </p:nvSpPr>
        <p:spPr>
          <a:xfrm>
            <a:off x="722313" y="2636912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1" name="Google Shape;31;p10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2" name="Google Shape;32;p10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va obsahy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1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1"/>
          <p:cNvSpPr txBox="1">
            <a:spLocks noGrp="1"/>
          </p:cNvSpPr>
          <p:nvPr>
            <p:ph type="body" idx="1"/>
          </p:nvPr>
        </p:nvSpPr>
        <p:spPr>
          <a:xfrm>
            <a:off x="504000" y="1844824"/>
            <a:ext cx="3956248" cy="428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11"/>
          <p:cNvSpPr txBox="1">
            <a:spLocks noGrp="1"/>
          </p:cNvSpPr>
          <p:nvPr>
            <p:ph type="body" idx="2"/>
          </p:nvPr>
        </p:nvSpPr>
        <p:spPr>
          <a:xfrm>
            <a:off x="4648200" y="1844824"/>
            <a:ext cx="4038600" cy="42813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11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38" name="Google Shape;38;p11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rovnání" type="twoTxTwoObj">
  <p:cSld name="TWO_OBJECTS_WITH_TEXT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12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2"/>
          <p:cNvSpPr txBox="1">
            <a:spLocks noGrp="1"/>
          </p:cNvSpPr>
          <p:nvPr>
            <p:ph type="body" idx="1"/>
          </p:nvPr>
        </p:nvSpPr>
        <p:spPr>
          <a:xfrm>
            <a:off x="518864" y="1916832"/>
            <a:ext cx="4040188" cy="59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None/>
              <a:defRPr sz="27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2" name="Google Shape;42;p12"/>
          <p:cNvSpPr txBox="1">
            <a:spLocks noGrp="1"/>
          </p:cNvSpPr>
          <p:nvPr>
            <p:ph type="body" idx="2"/>
          </p:nvPr>
        </p:nvSpPr>
        <p:spPr>
          <a:xfrm>
            <a:off x="518864" y="2556594"/>
            <a:ext cx="4040188" cy="368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3" name="Google Shape;43;p12"/>
          <p:cNvSpPr txBox="1">
            <a:spLocks noGrp="1"/>
          </p:cNvSpPr>
          <p:nvPr>
            <p:ph type="body" idx="3"/>
          </p:nvPr>
        </p:nvSpPr>
        <p:spPr>
          <a:xfrm>
            <a:off x="4706689" y="1916832"/>
            <a:ext cx="4041775" cy="5959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None/>
              <a:defRPr sz="2700" b="1"/>
            </a:lvl1pPr>
            <a:lvl2pPr marL="914400" lvl="1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4" name="Google Shape;44;p12"/>
          <p:cNvSpPr txBox="1">
            <a:spLocks noGrp="1"/>
          </p:cNvSpPr>
          <p:nvPr>
            <p:ph type="body" idx="4"/>
          </p:nvPr>
        </p:nvSpPr>
        <p:spPr>
          <a:xfrm>
            <a:off x="4706689" y="2556594"/>
            <a:ext cx="4041775" cy="368071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5pPr>
            <a:lvl6pPr marL="2743200" lvl="5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lnSpc>
                <a:spcPct val="100000"/>
              </a:lnSpc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5" name="Google Shape;45;p12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46" name="Google Shape;46;p12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ouze nadpis" type="titleOnly">
  <p:cSld name="TITLE_ONLY">
    <p:spTree>
      <p:nvGrpSpPr>
        <p:cNvPr id="1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3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13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0" name="Google Shape;50;p13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sah s titulkem" type="objTx">
  <p:cSld name="OBJECT_WITH_CAPTION_TEXT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14"/>
          <p:cNvSpPr txBox="1">
            <a:spLocks noGrp="1"/>
          </p:cNvSpPr>
          <p:nvPr>
            <p:ph type="title"/>
          </p:nvPr>
        </p:nvSpPr>
        <p:spPr>
          <a:xfrm>
            <a:off x="457200" y="764704"/>
            <a:ext cx="3008313" cy="9845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32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14"/>
          <p:cNvSpPr txBox="1">
            <a:spLocks noGrp="1"/>
          </p:cNvSpPr>
          <p:nvPr>
            <p:ph type="body" idx="1"/>
          </p:nvPr>
        </p:nvSpPr>
        <p:spPr>
          <a:xfrm>
            <a:off x="3575050" y="764704"/>
            <a:ext cx="5111750" cy="540060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2pPr>
            <a:lvl3pPr marL="1371600" lvl="2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3pPr>
            <a:lvl4pPr marL="1828800" lvl="3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–"/>
              <a:defRPr sz="2300"/>
            </a:lvl4pPr>
            <a:lvl5pPr marL="2286000" lvl="4" indent="-374650" algn="l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Char char="•"/>
              <a:defRPr sz="2300"/>
            </a:lvl5pPr>
            <a:lvl6pPr marL="2743200" lvl="5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4" name="Google Shape;54;p14"/>
          <p:cNvSpPr txBox="1">
            <a:spLocks noGrp="1"/>
          </p:cNvSpPr>
          <p:nvPr>
            <p:ph type="body" idx="2"/>
          </p:nvPr>
        </p:nvSpPr>
        <p:spPr>
          <a:xfrm>
            <a:off x="457200" y="1916831"/>
            <a:ext cx="3008313" cy="424847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 sz="20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5" name="Google Shape;55;p14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56" name="Google Shape;56;p14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brázek s titulkem" type="picTx">
  <p:cSld name="PICTURE_WITH_CAPTION_TEXT"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5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b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2000" b="1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5"/>
          <p:cNvSpPr>
            <a:spLocks noGrp="1"/>
          </p:cNvSpPr>
          <p:nvPr>
            <p:ph type="pic" idx="2"/>
          </p:nvPr>
        </p:nvSpPr>
        <p:spPr>
          <a:xfrm>
            <a:off x="1792288" y="1052735"/>
            <a:ext cx="5486400" cy="3674839"/>
          </a:xfrm>
          <a:prstGeom prst="rect">
            <a:avLst/>
          </a:prstGeom>
          <a:noFill/>
          <a:ln>
            <a:noFill/>
          </a:ln>
        </p:spPr>
      </p:sp>
      <p:sp>
        <p:nvSpPr>
          <p:cNvPr id="60" name="Google Shape;60;p15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228600" algn="l">
              <a:lnSpc>
                <a:spcPct val="100000"/>
              </a:lnSpc>
              <a:spcBef>
                <a:spcPts val="280"/>
              </a:spcBef>
              <a:spcAft>
                <a:spcPts val="0"/>
              </a:spcAft>
              <a:buSzPts val="1400"/>
              <a:buNone/>
              <a:defRPr sz="1400"/>
            </a:lvl1pPr>
            <a:lvl2pPr marL="914400" lvl="1" indent="-228600" algn="l">
              <a:lnSpc>
                <a:spcPct val="100000"/>
              </a:lnSpc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lnSpc>
                <a:spcPct val="100000"/>
              </a:lnSpc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1" name="Google Shape;61;p15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2" name="Google Shape;62;p15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adpis a svislý text" type="vertTx">
  <p:cSld name="VERTICAL_TEXT"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6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16"/>
          <p:cNvSpPr txBox="1">
            <a:spLocks noGrp="1"/>
          </p:cNvSpPr>
          <p:nvPr>
            <p:ph type="body" idx="1"/>
          </p:nvPr>
        </p:nvSpPr>
        <p:spPr>
          <a:xfrm rot="5400000">
            <a:off x="2543176" y="-168275"/>
            <a:ext cx="4149725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400050" algn="l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2700"/>
              <a:buChar char="•"/>
              <a:defRPr sz="2700"/>
            </a:lvl1pPr>
            <a:lvl2pPr marL="914400" lvl="1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66" name="Google Shape;66;p16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67" name="Google Shape;67;p16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6" descr="P:\CRCS\2012_0178_Redesign_loga_a_JVS\PPT_prezentace\sablona\pracovni\normalni.jpg"/>
          <p:cNvPicPr preferRelativeResize="0"/>
          <p:nvPr/>
        </p:nvPicPr>
        <p:blipFill rotWithShape="1">
          <a:blip r:embed="rId12">
            <a:alphaModFix/>
          </a:blip>
          <a:srcRect/>
          <a:stretch/>
        </p:blipFill>
        <p:spPr>
          <a:xfrm>
            <a:off x="0" y="0"/>
            <a:ext cx="9144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6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32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2800" b="1" i="0" u="none" strike="noStrike" cap="none">
                <a:solidFill>
                  <a:srgbClr val="1E448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2" name="Google Shape;12;p6"/>
          <p:cNvSpPr txBox="1">
            <a:spLocks noGrp="1"/>
          </p:cNvSpPr>
          <p:nvPr>
            <p:ph type="body" idx="1"/>
          </p:nvPr>
        </p:nvSpPr>
        <p:spPr>
          <a:xfrm>
            <a:off x="503238" y="1871663"/>
            <a:ext cx="822960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marR="0" lvl="0" indent="-40005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Clr>
                <a:srgbClr val="1E4485"/>
              </a:buClr>
              <a:buSzPts val="2700"/>
              <a:buFont typeface="Arial"/>
              <a:buChar char="•"/>
              <a:defRPr sz="27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7465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7465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7465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–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74650" algn="l" rtl="0">
              <a:lnSpc>
                <a:spcPct val="100000"/>
              </a:lnSpc>
              <a:spcBef>
                <a:spcPts val="460"/>
              </a:spcBef>
              <a:spcAft>
                <a:spcPts val="0"/>
              </a:spcAft>
              <a:buClr>
                <a:schemeClr val="dk1"/>
              </a:buClr>
              <a:buSzPts val="2300"/>
              <a:buFont typeface="Arial"/>
              <a:buChar char="•"/>
              <a:defRPr sz="2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55600" algn="l" rtl="0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3" name="Google Shape;13;p6"/>
          <p:cNvSpPr txBox="1">
            <a:spLocks noGrp="1"/>
          </p:cNvSpPr>
          <p:nvPr>
            <p:ph type="sldNum" idx="12"/>
          </p:nvPr>
        </p:nvSpPr>
        <p:spPr>
          <a:xfrm>
            <a:off x="503238" y="6573838"/>
            <a:ext cx="396875" cy="2841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45700" anchor="ctr" anchorCtr="0">
            <a:noAutofit/>
          </a:bodyPr>
          <a:lstStyle>
            <a:lvl1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00"/>
              <a:buFont typeface="Arial"/>
              <a:buNone/>
              <a:defRPr sz="15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14" name="Google Shape;14;p6"/>
          <p:cNvSpPr txBox="1">
            <a:spLocks noGrp="1"/>
          </p:cNvSpPr>
          <p:nvPr>
            <p:ph type="ftr" idx="11"/>
          </p:nvPr>
        </p:nvSpPr>
        <p:spPr>
          <a:xfrm>
            <a:off x="900113" y="6572250"/>
            <a:ext cx="289560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hyperlink" Target="mailto:syso@mail.muni.cz" TargetMode="Externa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hyperlink" Target="https://en.wikipedia.org/wiki/Elliptic_curve_point_multiplication#:~:text=Elliptic%20curve%20scalar%20multiplication%20is,producing%20a%20one-way%20function.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Google Shape;75;p1" descr="titulka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175" y="3175"/>
            <a:ext cx="9140825" cy="6854825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"/>
          <p:cNvSpPr txBox="1">
            <a:spLocks noGrp="1"/>
          </p:cNvSpPr>
          <p:nvPr>
            <p:ph type="ctrTitle" idx="4294967295"/>
          </p:nvPr>
        </p:nvSpPr>
        <p:spPr>
          <a:xfrm>
            <a:off x="503238" y="476250"/>
            <a:ext cx="5754687" cy="18732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US" sz="32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PV181 Laboratory of security and applied cryptography</a:t>
            </a:r>
            <a:endParaRPr sz="3200" b="1" i="0" u="none" strike="noStrike" cap="non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7" name="Google Shape;77;p1"/>
          <p:cNvSpPr txBox="1">
            <a:spLocks noGrp="1"/>
          </p:cNvSpPr>
          <p:nvPr>
            <p:ph type="subTitle" idx="4294967295"/>
          </p:nvPr>
        </p:nvSpPr>
        <p:spPr>
          <a:xfrm>
            <a:off x="503238" y="3428988"/>
            <a:ext cx="5724600" cy="108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indent="0">
              <a:spcBef>
                <a:spcPts val="0"/>
              </a:spcBef>
              <a:buSzPts val="1800"/>
              <a:buNone/>
            </a:pPr>
            <a:r>
              <a:rPr lang="en-US" b="1" dirty="0">
                <a:solidFill>
                  <a:srgbClr val="1E4485"/>
                </a:solidFill>
              </a:rPr>
              <a:t>Public key crypto</a:t>
            </a:r>
            <a:endParaRPr lang="en-US" sz="2700" b="1" i="0" u="none" strike="noStrike" cap="none" dirty="0">
              <a:solidFill>
                <a:srgbClr val="1E4485"/>
              </a:solidFill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485"/>
              </a:buClr>
              <a:buSzPts val="1800"/>
              <a:buFont typeface="Arial"/>
              <a:buNone/>
            </a:pPr>
            <a:r>
              <a:rPr lang="en-US" b="1" dirty="0">
                <a:solidFill>
                  <a:srgbClr val="1E4485"/>
                </a:solidFill>
              </a:rPr>
              <a:t>Common math operations</a:t>
            </a:r>
            <a:endParaRPr sz="2700" b="1" i="0" u="none" strike="noStrike" cap="none" dirty="0">
              <a:solidFill>
                <a:srgbClr val="1E4485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8" name="Google Shape;78;p1"/>
          <p:cNvSpPr txBox="1">
            <a:spLocks noGrp="1"/>
          </p:cNvSpPr>
          <p:nvPr>
            <p:ph type="body" idx="4294967295"/>
          </p:nvPr>
        </p:nvSpPr>
        <p:spPr>
          <a:xfrm>
            <a:off x="503238" y="5254625"/>
            <a:ext cx="5724525" cy="86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dirty="0">
                <a:solidFill>
                  <a:srgbClr val="1E4485"/>
                </a:solidFill>
              </a:rPr>
              <a:t>Marek Sýs</a:t>
            </a:r>
            <a:endParaRPr sz="1800" dirty="0">
              <a:solidFill>
                <a:srgbClr val="1E4485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360"/>
              </a:spcBef>
              <a:spcAft>
                <a:spcPts val="0"/>
              </a:spcAft>
              <a:buSzPts val="1800"/>
              <a:buFont typeface="Arial"/>
              <a:buNone/>
            </a:pPr>
            <a:r>
              <a:rPr lang="en-US" sz="1800" u="sng" dirty="0">
                <a:solidFill>
                  <a:schemeClr val="hlink"/>
                </a:solidFill>
                <a:hlinkClick r:id="rId4"/>
              </a:rPr>
              <a:t>syso@mail.muni.cz</a:t>
            </a:r>
            <a:r>
              <a:rPr lang="en-US" sz="1800" dirty="0">
                <a:solidFill>
                  <a:srgbClr val="1E4485"/>
                </a:solidFill>
              </a:rPr>
              <a:t>, A404</a:t>
            </a:r>
            <a:endParaRPr sz="1800" dirty="0">
              <a:solidFill>
                <a:srgbClr val="1E4485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2"/>
          <p:cNvSpPr txBox="1">
            <a:spLocks noGrp="1"/>
          </p:cNvSpPr>
          <p:nvPr>
            <p:ph type="title"/>
          </p:nvPr>
        </p:nvSpPr>
        <p:spPr>
          <a:xfrm>
            <a:off x="503238" y="908050"/>
            <a:ext cx="8229600" cy="7921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en-US"/>
              <a:t>You will learn</a:t>
            </a:r>
            <a:endParaRPr/>
          </a:p>
        </p:txBody>
      </p:sp>
      <p:sp>
        <p:nvSpPr>
          <p:cNvPr id="84" name="Google Shape;84;p2"/>
          <p:cNvSpPr txBox="1">
            <a:spLocks noGrp="1"/>
          </p:cNvSpPr>
          <p:nvPr>
            <p:ph type="body" idx="1"/>
          </p:nvPr>
        </p:nvSpPr>
        <p:spPr>
          <a:xfrm>
            <a:off x="503238" y="1871663"/>
            <a:ext cx="8229600" cy="4149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How to generate public/private key pair.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Formats of cryptographic data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dirty="0"/>
              <a:t>Base64, 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dirty="0"/>
              <a:t>ASN1 (PEM, DER)</a:t>
            </a:r>
          </a:p>
          <a:p>
            <a:pPr marL="4572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Char char="•"/>
            </a:pPr>
            <a:r>
              <a:rPr lang="en-US" dirty="0"/>
              <a:t>Mathematical operations used in public-key cryptography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dirty="0"/>
              <a:t>Modular operations</a:t>
            </a:r>
          </a:p>
          <a:p>
            <a:pPr lvl="1">
              <a:spcBef>
                <a:spcPts val="0"/>
              </a:spcBef>
              <a:buChar char="•"/>
            </a:pPr>
            <a:r>
              <a:rPr lang="en-US" dirty="0"/>
              <a:t>Operations with points on Elliptic curve</a:t>
            </a: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endParaRPr dirty="0"/>
          </a:p>
          <a:p>
            <a:pPr marL="457200" lvl="0" indent="0" algn="l" rtl="0">
              <a:lnSpc>
                <a:spcPct val="100000"/>
              </a:lnSpc>
              <a:spcBef>
                <a:spcPts val="540"/>
              </a:spcBef>
              <a:spcAft>
                <a:spcPts val="0"/>
              </a:spcAft>
              <a:buSzPts val="1800"/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107651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6E38B10-4749-9362-F767-3217005D4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Public key operations</a:t>
            </a:r>
            <a:endParaRPr lang="cs-CZ" dirty="0"/>
          </a:p>
        </p:txBody>
      </p:sp>
      <p:sp>
        <p:nvSpPr>
          <p:cNvPr id="3" name="Zástupný text 2">
            <a:extLst>
              <a:ext uri="{FF2B5EF4-FFF2-40B4-BE49-F238E27FC236}">
                <a16:creationId xmlns:a16="http://schemas.microsoft.com/office/drawing/2014/main" id="{4B43B0B4-0EC0-469C-303B-A7C1C6F465B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Modular operations: </a:t>
            </a:r>
          </a:p>
          <a:p>
            <a:pPr lvl="1"/>
            <a:r>
              <a:rPr lang="en-US" dirty="0"/>
              <a:t>Addition </a:t>
            </a:r>
          </a:p>
          <a:p>
            <a:pPr lvl="1"/>
            <a:r>
              <a:rPr lang="en-US" dirty="0"/>
              <a:t>Multiplication</a:t>
            </a:r>
          </a:p>
          <a:p>
            <a:pPr lvl="1"/>
            <a:r>
              <a:rPr lang="en-US" dirty="0"/>
              <a:t>Exponentiation</a:t>
            </a:r>
          </a:p>
          <a:p>
            <a:pPr lvl="1"/>
            <a:r>
              <a:rPr lang="en-US" dirty="0"/>
              <a:t>Inversion (uses Extended Euclid alg.)</a:t>
            </a:r>
          </a:p>
          <a:p>
            <a:pPr marL="571500" lvl="1" indent="0">
              <a:buNone/>
            </a:pPr>
            <a:endParaRPr lang="en-US" dirty="0"/>
          </a:p>
          <a:p>
            <a:r>
              <a:rPr lang="en-US" dirty="0"/>
              <a:t>Elliptic curve operations:</a:t>
            </a:r>
          </a:p>
          <a:p>
            <a:pPr lvl="1"/>
            <a:r>
              <a:rPr lang="en-US" dirty="0"/>
              <a:t>Point addition </a:t>
            </a:r>
          </a:p>
          <a:p>
            <a:pPr lvl="1"/>
            <a:r>
              <a:rPr lang="en-US" dirty="0"/>
              <a:t>Point multiplication (e.g. point doubling 2*P = P+P)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cs-CZ" dirty="0"/>
          </a:p>
        </p:txBody>
      </p:sp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8FEA70AA-86BC-5395-09DA-36EAADE480A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8277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669A349-58F9-1FF4-C69E-783D576098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operations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2EA2B838-7647-61F8-025D-FEB62A51F8EB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The result always in [0, m-1] for modulus m</a:t>
                </a:r>
              </a:p>
              <a:p>
                <a:r>
                  <a:rPr lang="en-US" dirty="0"/>
                  <a:t>Addition, multiplication: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,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python </a:t>
                </a:r>
                <a:r>
                  <a:rPr lang="en-US" b="1" i="1" dirty="0" err="1"/>
                  <a:t>a+b</a:t>
                </a:r>
                <a:r>
                  <a:rPr lang="en-US" b="1" i="1" dirty="0"/>
                  <a:t> % m, a*b % m</a:t>
                </a:r>
              </a:p>
              <a:p>
                <a:r>
                  <a:rPr lang="en-US" dirty="0"/>
                  <a:t>Exponentiation: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python </a:t>
                </a:r>
                <a:r>
                  <a:rPr lang="en-US" b="1" dirty="0"/>
                  <a:t>pow(a, e, m)</a:t>
                </a:r>
              </a:p>
              <a:p>
                <a:pPr lvl="1"/>
                <a:r>
                  <a:rPr lang="en-US" dirty="0"/>
                  <a:t>Computed iteratively with modulo applied to decrease size of intermediate products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⇒11=1+2+8⇒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b="0" dirty="0"/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16</m:t>
                        </m:r>
                      </m:sup>
                    </m:sSup>
                  </m:oMath>
                </a14:m>
                <a:endParaRPr lang="en-US" i="1" dirty="0">
                  <a:latin typeface="Cambria Math" panose="02040503050406030204" pitchFamily="18" charset="0"/>
                </a:endParaRPr>
              </a:p>
              <a:p>
                <a:pPr lvl="2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=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∗</m:t>
                            </m:r>
                            <m:sSup>
                              <m:sSupPr>
                                <m:ctrlPr>
                                  <a:rPr lang="en-US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𝑎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  <m:r>
                          <a:rPr lang="en-US" i="1">
                            <a:latin typeface="Cambria Math" panose="02040503050406030204" pitchFamily="18" charset="0"/>
                          </a:rPr>
                          <m:t>∗</m:t>
                        </m:r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endParaRPr lang="en-US" dirty="0"/>
              </a:p>
              <a:p>
                <a:pPr lvl="1"/>
                <a:endParaRPr lang="en-US" dirty="0"/>
              </a:p>
              <a:p>
                <a:pPr marL="571500" lvl="1" indent="0">
                  <a:buNone/>
                </a:pPr>
                <a:endParaRPr lang="en-US" dirty="0"/>
              </a:p>
              <a:p>
                <a:endParaRPr lang="cs-CZ" dirty="0"/>
              </a:p>
            </p:txBody>
          </p:sp>
        </mc:Choice>
        <mc:Fallback xmlns="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2EA2B838-7647-61F8-025D-FEB62A51F8E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222" t="-1175" b="-4699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180C2C44-A94B-73C3-5E53-0429A0A9413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33086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33E4DF5-B1CF-4945-0F52-C9C2040A4B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Modular inversion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F12997C2-59E8-3518-C60F-6DAB49813BEA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 Inverse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</m:oMath>
                </a14:m>
                <a:r>
                  <a:rPr lang="en-US" dirty="0"/>
                  <a:t> 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modulo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/>
                  <a:t> such that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=1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lang="en-US" dirty="0"/>
                  <a:t> and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r>
                  <a:rPr lang="en-US" dirty="0"/>
                  <a:t> must be coprime! </a:t>
                </a:r>
              </a:p>
              <a:p>
                <a:r>
                  <a:rPr lang="en-US" dirty="0"/>
                  <a:t>Modular “division” using inverse:</a:t>
                </a:r>
                <a:br>
                  <a:rPr lang="en-US" dirty="0"/>
                </a:br>
                <a:r>
                  <a:rPr lang="en-US" dirty="0"/>
                  <a:t>		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In python </a:t>
                </a:r>
                <a:r>
                  <a:rPr lang="en-US" b="1" dirty="0"/>
                  <a:t>(a * pow(a, -1, m)) % </a:t>
                </a:r>
                <a:endParaRPr lang="en-US" dirty="0"/>
              </a:p>
              <a:p>
                <a:r>
                  <a:rPr lang="en-US" dirty="0"/>
                  <a:t>Examples: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7=5</m:t>
                    </m:r>
                  </m:oMath>
                </a14:m>
                <a:r>
                  <a:rPr lang="en-US" dirty="0"/>
                  <a:t> since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3∗5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7=1</m:t>
                    </m:r>
                  </m:oMath>
                </a14:m>
                <a:r>
                  <a:rPr lang="en-US" dirty="0"/>
                  <a:t> </a:t>
                </a:r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4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10</m:t>
                    </m:r>
                  </m:oMath>
                </a14:m>
                <a:r>
                  <a:rPr lang="en-US" dirty="0"/>
                  <a:t> does not exist (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gcd</m:t>
                    </m:r>
                    <m:d>
                      <m:dPr>
                        <m:ctrlPr>
                          <a:rPr lang="en-US" b="0" i="0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4, 10</m:t>
                        </m:r>
                      </m:e>
                    </m:d>
                    <m:r>
                      <a:rPr lang="en-US" b="0" i="0" smtClean="0">
                        <a:latin typeface="Cambria Math" panose="02040503050406030204" pitchFamily="18" charset="0"/>
                      </a:rPr>
                      <m:t> = 2</m:t>
                    </m:r>
                  </m:oMath>
                </a14:m>
                <a:r>
                  <a:rPr lang="en-US" dirty="0"/>
                  <a:t> )</a:t>
                </a:r>
              </a:p>
              <a:p>
                <a:endParaRPr lang="en-US" dirty="0"/>
              </a:p>
              <a:p>
                <a:pPr lvl="1"/>
                <a:endParaRPr lang="en-US" dirty="0"/>
              </a:p>
              <a:p>
                <a:endParaRPr lang="cs-CZ" dirty="0"/>
              </a:p>
            </p:txBody>
          </p:sp>
        </mc:Choice>
        <mc:Fallback xmlns="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F12997C2-59E8-3518-C60F-6DAB49813B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222" t="-1175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ECFF5391-9CCC-1E29-3A67-56BA05B879EA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592000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F4B9F0F-D97A-0C98-A111-87BEB7A29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RSA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FF40FF3F-FC9C-3D2A-53F4-20EFA6E9C362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Public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Encryption – modular exponentiation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Private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Decryption – modular exponentiation </a:t>
                </a:r>
              </a:p>
              <a:p>
                <a:pPr lvl="2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𝐷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endParaRPr lang="en-US" dirty="0"/>
              </a:p>
              <a:p>
                <a:r>
                  <a:rPr lang="en-US" dirty="0"/>
                  <a:t>Private</a:t>
                </a:r>
              </a:p>
              <a:p>
                <a:pPr lvl="1"/>
                <a:r>
                  <a:rPr lang="en-US" dirty="0"/>
                  <a:t>Decryption – modular exponentiation using CRT</a:t>
                </a:r>
              </a:p>
              <a:p>
                <a:pPr lvl="1"/>
                <a:endParaRPr lang="en-US" dirty="0"/>
              </a:p>
              <a:p>
                <a:pPr lvl="2"/>
                <a:endParaRPr lang="en-US" dirty="0"/>
              </a:p>
              <a:p>
                <a:pPr lvl="2"/>
                <a:endParaRPr lang="en-US" dirty="0"/>
              </a:p>
              <a:p>
                <a:pPr lvl="1"/>
                <a:endParaRPr lang="en-US" dirty="0"/>
              </a:p>
              <a:p>
                <a:r>
                  <a:rPr lang="en-US" dirty="0"/>
                  <a:t> </a:t>
                </a:r>
                <a:endParaRPr lang="cs-CZ" dirty="0"/>
              </a:p>
            </p:txBody>
          </p:sp>
        </mc:Choice>
        <mc:Fallback xmlns="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FF40FF3F-FC9C-3D2A-53F4-20EFA6E9C36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2"/>
                <a:stretch>
                  <a:fillRect l="-222" t="-1175" b="-34214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F198B515-D451-E89C-7A81-6A39D0CB1E7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178554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5F93F0B-D585-6B4A-8B3B-332308F0D7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Elliptic curve cryptography (ECC) </a:t>
            </a:r>
            <a:endParaRPr lang="cs-CZ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A9D5DDBA-8757-1FD7-68D8-6CC54B4D8564}"/>
                  </a:ext>
                </a:extLst>
              </p:cNvPr>
              <p:cNvSpPr>
                <a:spLocks noGrp="1"/>
              </p:cNvSpPr>
              <p:nvPr>
                <p:ph type="body" idx="1"/>
              </p:nvPr>
            </p:nvSpPr>
            <p:spPr/>
            <p:txBody>
              <a:bodyPr/>
              <a:lstStyle/>
              <a:p>
                <a:r>
                  <a:rPr lang="en-US" dirty="0"/>
                  <a:t>Defined by parameters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𝐺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 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</a:t>
                </a:r>
              </a:p>
              <a:p>
                <a:r>
                  <a:rPr lang="en-US" dirty="0"/>
                  <a:t>Groups of points </a:t>
                </a:r>
                <a14:m>
                  <m:oMath xmlns:m="http://schemas.openxmlformats.org/officeDocument/2006/math">
                    <m:r>
                      <a:rPr lang="en-US" b="0" i="0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𝑦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𝑚𝑜𝑑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endParaRPr lang="en-US" dirty="0"/>
              </a:p>
              <a:p>
                <a:r>
                  <a:rPr lang="en-US" dirty="0"/>
                  <a:t>Operations with points:</a:t>
                </a:r>
              </a:p>
              <a:p>
                <a:pPr lvl="1"/>
                <a:r>
                  <a:rPr lang="en-US" dirty="0"/>
                  <a:t>Addition - complex </a:t>
                </a:r>
                <a:r>
                  <a:rPr lang="en-US" dirty="0">
                    <a:hlinkClick r:id="rId2"/>
                  </a:rPr>
                  <a:t>wiki</a:t>
                </a:r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sub>
                        </m:sSub>
                      </m:e>
                    </m:d>
                  </m:oMath>
                </a14:m>
                <a:endParaRPr lang="en-US" b="0" dirty="0"/>
              </a:p>
              <a:p>
                <a:pPr lvl="1"/>
                <a:r>
                  <a:rPr lang="en-US" dirty="0"/>
                  <a:t>Multiplication vs addition – </a:t>
                </a:r>
                <a:r>
                  <a:rPr lang="en-US"/>
                  <a:t>classical relationship</a:t>
                </a:r>
                <a:endParaRPr lang="en-US" dirty="0"/>
              </a:p>
              <a:p>
                <a:pPr lvl="2"/>
                <a:r>
                  <a:rPr lang="en-US" b="0" dirty="0"/>
                  <a:t>E.g.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3∗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 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  <a:p>
                <a:pPr lvl="2"/>
                <a:r>
                  <a:rPr lang="en-US" dirty="0"/>
                  <a:t>Maximal multiplier 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lang="en-US" dirty="0"/>
                  <a:t> </a:t>
                </a:r>
                <a:r>
                  <a:rPr lang="en-US" dirty="0" err="1"/>
                  <a:t>i.e</a:t>
                </a:r>
                <a:r>
                  <a:rPr lang="en-US" dirty="0"/>
                  <a:t> </a:t>
                </a:r>
              </a:p>
              <a:p>
                <a:pPr lvl="3"/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lang="en-US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𝑚𝑜𝑑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</m:d>
                    <m:r>
                      <a:rPr lang="en-US" b="0" i="1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  <m:r>
                          <a:rPr lang="en-US" i="1">
                            <a:latin typeface="Cambria Math" panose="02040503050406030204" pitchFamily="18" charset="0"/>
                          </a:rPr>
                          <m:t>,</m:t>
                        </m:r>
                        <m:sSub>
                          <m:sSub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𝑦</m:t>
                            </m:r>
                          </m:e>
                          <m:sub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</m:d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3" name="Zástupný text 2">
                <a:extLst>
                  <a:ext uri="{FF2B5EF4-FFF2-40B4-BE49-F238E27FC236}">
                    <a16:creationId xmlns:a16="http://schemas.microsoft.com/office/drawing/2014/main" id="{A9D5DDBA-8757-1FD7-68D8-6CC54B4D856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blipFill>
                <a:blip r:embed="rId3"/>
                <a:stretch>
                  <a:fillRect l="-1704" t="-881" b="-7930"/>
                </a:stretch>
              </a:blipFill>
            </p:spPr>
            <p:txBody>
              <a:bodyPr/>
              <a:lstStyle/>
              <a:p>
                <a:r>
                  <a:rPr lang="cs-CZ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Zástupný symbol pro číslo snímku 3">
            <a:extLst>
              <a:ext uri="{FF2B5EF4-FFF2-40B4-BE49-F238E27FC236}">
                <a16:creationId xmlns:a16="http://schemas.microsoft.com/office/drawing/2014/main" id="{5AA253C4-60B4-2305-D5AF-C59F1997BF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394086"/>
      </p:ext>
    </p:extLst>
  </p:cSld>
  <p:clrMapOvr>
    <a:masterClrMapping/>
  </p:clrMapOvr>
</p:sld>
</file>

<file path=ppt/theme/theme1.xml><?xml version="1.0" encoding="utf-8"?>
<a:theme xmlns:a="http://schemas.openxmlformats.org/drawingml/2006/main" name="CRCS_prezentace">
  <a:themeElements>
    <a:clrScheme name="Kancelář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tiv systému Office">
  <a:themeElements>
    <a:clrScheme name="Kancelář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1310</TotalTime>
  <Words>428</Words>
  <Application>Microsoft Office PowerPoint</Application>
  <PresentationFormat>Předvádění na obrazovce (4:3)</PresentationFormat>
  <Paragraphs>76</Paragraphs>
  <Slides>7</Slides>
  <Notes>2</Notes>
  <HiddenSlides>0</HiddenSlides>
  <MMClips>0</MMClips>
  <ScaleCrop>false</ScaleCrop>
  <HeadingPairs>
    <vt:vector size="6" baseType="variant">
      <vt:variant>
        <vt:lpstr>Použitá písma</vt:lpstr>
      </vt:variant>
      <vt:variant>
        <vt:i4>3</vt:i4>
      </vt:variant>
      <vt:variant>
        <vt:lpstr>Motiv</vt:lpstr>
      </vt:variant>
      <vt:variant>
        <vt:i4>1</vt:i4>
      </vt:variant>
      <vt:variant>
        <vt:lpstr>Nadpisy snímků</vt:lpstr>
      </vt:variant>
      <vt:variant>
        <vt:i4>7</vt:i4>
      </vt:variant>
    </vt:vector>
  </HeadingPairs>
  <TitlesOfParts>
    <vt:vector size="11" baseType="lpstr">
      <vt:lpstr>Arial</vt:lpstr>
      <vt:lpstr>Cambria Math</vt:lpstr>
      <vt:lpstr>Calibri</vt:lpstr>
      <vt:lpstr>CRCS_prezentace</vt:lpstr>
      <vt:lpstr>PV181 Laboratory of security and applied cryptography</vt:lpstr>
      <vt:lpstr>You will learn</vt:lpstr>
      <vt:lpstr>Public key operations</vt:lpstr>
      <vt:lpstr>Modular operations</vt:lpstr>
      <vt:lpstr>Modular inversion</vt:lpstr>
      <vt:lpstr>RSA</vt:lpstr>
      <vt:lpstr>Elliptic curve cryptography (ECC)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PV181 Laboratory of security and applied cryptography</dc:title>
  <dc:creator>Jmeno uzivatele</dc:creator>
  <cp:lastModifiedBy>Marek Sýs</cp:lastModifiedBy>
  <cp:revision>48</cp:revision>
  <dcterms:created xsi:type="dcterms:W3CDTF">2013-08-19T12:15:33Z</dcterms:created>
  <dcterms:modified xsi:type="dcterms:W3CDTF">2026-09-30T07:20:43Z</dcterms:modified>
</cp:coreProperties>
</file>